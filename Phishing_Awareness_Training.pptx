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59BC216-53DB-4B2D-992E-A3753729A69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C59B75-F8E1-49DA-8D4F-A23675AAEFD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F9F051-E088-4F60-8D7A-681DD4FD71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9CEEE6-F6EE-40DA-8BF1-D2E5281CB6B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CF53FF-FDD2-4F8F-ACFF-2B8FF1D1D35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668294-0FDC-49C3-9267-5C02F6ACC0A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BBAB05-E0EE-4D6F-981A-3B4F513D64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22D7F5-3B31-47F9-8CDB-1E07B38E16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509BC6-A1D6-44DE-8113-A382E12E750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91C2F-AF86-49DD-8384-059A8AEF41B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5435E5-43D1-413A-9B04-A82A8922A36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974B11-EE1C-485F-A906-811F74E9032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95527E-FE66-4047-8141-13756F86E09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692640" y="-1280160"/>
            <a:ext cx="3840120" cy="38401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-1463040" y="4754880"/>
            <a:ext cx="3291480" cy="329148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22960" y="1554480"/>
            <a:ext cx="502560" cy="502560"/>
          </a:xfrm>
          <a:prstGeom prst="roundRect">
            <a:avLst>
              <a:gd name="adj" fmla="val 21818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15361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!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2286000"/>
            <a:ext cx="9600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PHISHING AWARENESS TRAINING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342900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Recognize the bait. Verify before you trust. Report before it spreads.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822960" y="4160520"/>
            <a:ext cx="2011680" cy="360"/>
          </a:xfrm>
          <a:prstGeom prst="line">
            <a:avLst/>
          </a:prstGeom>
          <a:ln w="381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22960" y="4389120"/>
            <a:ext cx="777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9aa4c2"/>
                </a:solidFill>
                <a:effectLst/>
                <a:uFillTx/>
                <a:latin typeface="Calibri"/>
                <a:ea typeface="Calibri"/>
              </a:rPr>
              <a:t>A practical module on how phishing works, how to spot it, and how to respond.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822960" y="6126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b8a"/>
                </a:solidFill>
                <a:effectLst/>
                <a:uFillTx/>
                <a:latin typeface="Calibri"/>
                <a:ea typeface="Calibri"/>
              </a:rPr>
              <a:t>Security Awareness Series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572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141b33"/>
                </a:solidFill>
                <a:effectLst/>
                <a:uFillTx/>
                <a:latin typeface="Cambria"/>
                <a:ea typeface="Cambria"/>
              </a:rPr>
              <a:t>What Is Phishing?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1234440"/>
            <a:ext cx="6400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Phishing is a social engineering attack where someone impersonates a trusted source </a:t>
            </a: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(a company, a coworker, a bank) </a:t>
            </a:r>
            <a:r>
              <a:rPr b="0" lang="en-US" sz="16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to trick you into handing over credentials, money, or access.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548640" y="2514600"/>
            <a:ext cx="6400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It doesn't exploit a flaw in software — it exploits trust, urgency, and habit.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548640" y="3383280"/>
            <a:ext cx="255600" cy="2556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548640" y="33832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960120" y="331020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Over 90% of successful cyber attacks start with a phishing email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548640" y="4069080"/>
            <a:ext cx="255600" cy="2556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548640" y="40690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960120" y="399600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Attackers now use generative AI to write flawless, personalized lures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548640" y="4754880"/>
            <a:ext cx="255600" cy="25560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548640" y="47548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960120" y="468180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One click on a fake login page can compromise an entire organization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7680960" y="1188720"/>
            <a:ext cx="3931560" cy="4937400"/>
          </a:xfrm>
          <a:prstGeom prst="roundRect">
            <a:avLst>
              <a:gd name="adj" fmla="val 2791"/>
            </a:avLst>
          </a:prstGeom>
          <a:solidFill>
            <a:srgbClr val="141b33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f1424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7680960" y="1600200"/>
            <a:ext cx="3931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3.4B</a:t>
            </a:r>
            <a:endParaRPr b="0" lang="en-US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7955280" y="2468880"/>
            <a:ext cx="3382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phishing emails sent worldwide, every single day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8138160" y="3246120"/>
            <a:ext cx="301752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7680960" y="3429000"/>
            <a:ext cx="3931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e63946"/>
                </a:solidFill>
                <a:effectLst/>
                <a:uFillTx/>
                <a:latin typeface="Cambria"/>
                <a:ea typeface="Cambria"/>
              </a:rPr>
              <a:t>38M+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7955280" y="406908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phishing attacks detected globally in 2024 alone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8138160" y="4709160"/>
            <a:ext cx="3017520" cy="360"/>
          </a:xfrm>
          <a:prstGeom prst="line">
            <a:avLst/>
          </a:prstGeom>
          <a:ln w="1905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7680960" y="4892040"/>
            <a:ext cx="3931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~1 in 4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7955280" y="5532120"/>
            <a:ext cx="3382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cybersecurity incidents worldwide trace back to phishing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48640" y="45720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141b33"/>
                </a:solidFill>
                <a:effectLst/>
                <a:uFillTx/>
                <a:latin typeface="Cambria"/>
                <a:ea typeface="Cambria"/>
              </a:rPr>
              <a:t>Anatomy Of A Phishing Attack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548640" y="109728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Most attacks follow the same five-step playbook — knowing the pattern helps you spot it mid-attack.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"/>
          <p:cNvSpPr/>
          <p:nvPr/>
        </p:nvSpPr>
        <p:spPr>
          <a:xfrm>
            <a:off x="548640" y="1965960"/>
            <a:ext cx="2139480" cy="41144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3e6ef"/>
            </a:solidFill>
            <a:round/>
          </a:ln>
          <a:effectLst>
            <a:outerShdw algn="bl" blurRad="101520" dir="5400000" dist="38160" kx="0" ky="0" rotWithShape="0" sx="100000" sy="100000">
              <a:srgbClr val="0f1424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1362600" y="2240280"/>
            <a:ext cx="511560" cy="511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1362600" y="22402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685800" y="2926080"/>
            <a:ext cx="186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Research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731520" y="3429000"/>
            <a:ext cx="17737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Attacker studies the target — job title, coworkers, vendors, writing style — often from LinkedIn or a breached data set.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2688480" y="3703320"/>
            <a:ext cx="15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c6b8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8"/>
          <p:cNvSpPr/>
          <p:nvPr/>
        </p:nvSpPr>
        <p:spPr>
          <a:xfrm>
            <a:off x="2825640" y="1965960"/>
            <a:ext cx="2139480" cy="41144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3e6ef"/>
            </a:solidFill>
            <a:round/>
          </a:ln>
          <a:effectLst>
            <a:outerShdw algn="bl" blurRad="101520" dir="5400000" dist="38160" kx="0" ky="0" rotWithShape="0" sx="100000" sy="100000">
              <a:srgbClr val="0f1424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9"/>
          <p:cNvSpPr/>
          <p:nvPr/>
        </p:nvSpPr>
        <p:spPr>
          <a:xfrm>
            <a:off x="3639240" y="2240280"/>
            <a:ext cx="511560" cy="511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3639240" y="22402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2962800" y="2926080"/>
            <a:ext cx="186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Craft the lure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3008520" y="3429000"/>
            <a:ext cx="17737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 believable email, text, or site is built: a fake invoice, an HR notice, a "password expiring" alert.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4965120" y="3703320"/>
            <a:ext cx="15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c6b8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4"/>
          <p:cNvSpPr/>
          <p:nvPr/>
        </p:nvSpPr>
        <p:spPr>
          <a:xfrm>
            <a:off x="5102280" y="1965960"/>
            <a:ext cx="2139480" cy="41144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3e6ef"/>
            </a:solidFill>
            <a:round/>
          </a:ln>
          <a:effectLst>
            <a:outerShdw algn="bl" blurRad="101520" dir="5400000" dist="38160" kx="0" ky="0" rotWithShape="0" sx="100000" sy="100000">
              <a:srgbClr val="0f1424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5916240" y="2240280"/>
            <a:ext cx="511560" cy="511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5916240" y="22402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7"/>
          <p:cNvSpPr/>
          <p:nvPr/>
        </p:nvSpPr>
        <p:spPr>
          <a:xfrm>
            <a:off x="5239440" y="2926080"/>
            <a:ext cx="186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Deliver &amp; hook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8"/>
          <p:cNvSpPr/>
          <p:nvPr/>
        </p:nvSpPr>
        <p:spPr>
          <a:xfrm>
            <a:off x="5285160" y="3429000"/>
            <a:ext cx="17737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The message is sent, timed for distraction — end of day, end of quarter, right after a real company announcement.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9"/>
          <p:cNvSpPr/>
          <p:nvPr/>
        </p:nvSpPr>
        <p:spPr>
          <a:xfrm>
            <a:off x="7242120" y="3703320"/>
            <a:ext cx="15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c6b8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0"/>
          <p:cNvSpPr/>
          <p:nvPr/>
        </p:nvSpPr>
        <p:spPr>
          <a:xfrm>
            <a:off x="7379280" y="1965960"/>
            <a:ext cx="2139480" cy="41144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3e6ef"/>
            </a:solidFill>
            <a:round/>
          </a:ln>
          <a:effectLst>
            <a:outerShdw algn="bl" blurRad="101520" dir="5400000" dist="38160" kx="0" ky="0" rotWithShape="0" sx="100000" sy="100000">
              <a:srgbClr val="0f1424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1"/>
          <p:cNvSpPr/>
          <p:nvPr/>
        </p:nvSpPr>
        <p:spPr>
          <a:xfrm>
            <a:off x="8192880" y="2240280"/>
            <a:ext cx="511560" cy="5115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2"/>
          <p:cNvSpPr/>
          <p:nvPr/>
        </p:nvSpPr>
        <p:spPr>
          <a:xfrm>
            <a:off x="8192880" y="22402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3"/>
          <p:cNvSpPr/>
          <p:nvPr/>
        </p:nvSpPr>
        <p:spPr>
          <a:xfrm>
            <a:off x="7516440" y="2926080"/>
            <a:ext cx="186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Harvest or execute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4"/>
          <p:cNvSpPr/>
          <p:nvPr/>
        </p:nvSpPr>
        <p:spPr>
          <a:xfrm>
            <a:off x="7562160" y="3429000"/>
            <a:ext cx="17737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Victim clicks a link, enters credentials, or approves a payment; attacker captures it in real time.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5"/>
          <p:cNvSpPr/>
          <p:nvPr/>
        </p:nvSpPr>
        <p:spPr>
          <a:xfrm>
            <a:off x="9518760" y="3703320"/>
            <a:ext cx="15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5c6b8a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6"/>
          <p:cNvSpPr/>
          <p:nvPr/>
        </p:nvSpPr>
        <p:spPr>
          <a:xfrm>
            <a:off x="9655920" y="1965960"/>
            <a:ext cx="2139480" cy="41144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e3e6ef"/>
            </a:solidFill>
            <a:round/>
          </a:ln>
          <a:effectLst>
            <a:outerShdw algn="bl" blurRad="101520" dir="5400000" dist="38160" kx="0" ky="0" rotWithShape="0" sx="100000" sy="100000">
              <a:srgbClr val="0f1424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7"/>
          <p:cNvSpPr/>
          <p:nvPr/>
        </p:nvSpPr>
        <p:spPr>
          <a:xfrm>
            <a:off x="10469880" y="2240280"/>
            <a:ext cx="511560" cy="51156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8"/>
          <p:cNvSpPr/>
          <p:nvPr/>
        </p:nvSpPr>
        <p:spPr>
          <a:xfrm>
            <a:off x="10469880" y="22402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9"/>
          <p:cNvSpPr/>
          <p:nvPr/>
        </p:nvSpPr>
        <p:spPr>
          <a:xfrm>
            <a:off x="9793080" y="2926080"/>
            <a:ext cx="186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Exploit access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0"/>
          <p:cNvSpPr/>
          <p:nvPr/>
        </p:nvSpPr>
        <p:spPr>
          <a:xfrm>
            <a:off x="9838800" y="3429000"/>
            <a:ext cx="177372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Stolen credentials or funds are used immediately — account takeover, lateral movement, or money is moved offshore.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48640" y="45720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141b33"/>
                </a:solidFill>
                <a:effectLst/>
                <a:uFillTx/>
                <a:latin typeface="Cambria"/>
                <a:ea typeface="Cambria"/>
              </a:rPr>
              <a:t>Not Just Email: Types Of Phishing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548640" y="1280160"/>
            <a:ext cx="2697120" cy="2331360"/>
          </a:xfrm>
          <a:prstGeom prst="roundRect">
            <a:avLst>
              <a:gd name="adj" fmla="val 3922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731520" y="146304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731520" y="146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731520" y="196596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Email phishing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731520" y="237744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Mass, generic emails impersonating known brands (banks, delivery firms, Microsoft).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3410640" y="1280160"/>
            <a:ext cx="2697120" cy="2331360"/>
          </a:xfrm>
          <a:prstGeom prst="roundRect">
            <a:avLst>
              <a:gd name="adj" fmla="val 3922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3593520" y="146304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3593520" y="146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3593520" y="196596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Spear phishing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3593520" y="237744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Targeted at one person, using details about their real job, projects, or contacts.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6272640" y="1280160"/>
            <a:ext cx="2697120" cy="2331360"/>
          </a:xfrm>
          <a:prstGeom prst="roundRect">
            <a:avLst>
              <a:gd name="adj" fmla="val 3922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6455520" y="146304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6455520" y="146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6455520" y="196596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Whaling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6455520" y="237744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Spear phishing aimed at executives — often fake wire-transfer or contract requests.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6"/>
          <p:cNvSpPr/>
          <p:nvPr/>
        </p:nvSpPr>
        <p:spPr>
          <a:xfrm>
            <a:off x="9135000" y="1280160"/>
            <a:ext cx="2697120" cy="2331360"/>
          </a:xfrm>
          <a:prstGeom prst="roundRect">
            <a:avLst>
              <a:gd name="adj" fmla="val 3922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9317880" y="146304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8"/>
          <p:cNvSpPr/>
          <p:nvPr/>
        </p:nvSpPr>
        <p:spPr>
          <a:xfrm>
            <a:off x="9317880" y="1463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9"/>
          <p:cNvSpPr/>
          <p:nvPr/>
        </p:nvSpPr>
        <p:spPr>
          <a:xfrm>
            <a:off x="9317880" y="196596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Smishing (SMS)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0"/>
          <p:cNvSpPr/>
          <p:nvPr/>
        </p:nvSpPr>
        <p:spPr>
          <a:xfrm>
            <a:off x="9317880" y="237744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Text messages with urgent links: "your package is delayed," "reset your password."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1"/>
          <p:cNvSpPr/>
          <p:nvPr/>
        </p:nvSpPr>
        <p:spPr>
          <a:xfrm>
            <a:off x="548640" y="3840480"/>
            <a:ext cx="2697120" cy="2331360"/>
          </a:xfrm>
          <a:prstGeom prst="roundRect">
            <a:avLst>
              <a:gd name="adj" fmla="val 3922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731520" y="402336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731520" y="402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731520" y="452628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Vishing (voice)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5"/>
          <p:cNvSpPr/>
          <p:nvPr/>
        </p:nvSpPr>
        <p:spPr>
          <a:xfrm>
            <a:off x="731520" y="493776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Phone or AI-cloned voice calls impersonating IT, a bank, or an executive.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6"/>
          <p:cNvSpPr/>
          <p:nvPr/>
        </p:nvSpPr>
        <p:spPr>
          <a:xfrm>
            <a:off x="3410640" y="3840480"/>
            <a:ext cx="2697120" cy="2331360"/>
          </a:xfrm>
          <a:prstGeom prst="roundRect">
            <a:avLst>
              <a:gd name="adj" fmla="val 3922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7"/>
          <p:cNvSpPr/>
          <p:nvPr/>
        </p:nvSpPr>
        <p:spPr>
          <a:xfrm>
            <a:off x="3593520" y="402336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8"/>
          <p:cNvSpPr/>
          <p:nvPr/>
        </p:nvSpPr>
        <p:spPr>
          <a:xfrm>
            <a:off x="3593520" y="402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9"/>
          <p:cNvSpPr/>
          <p:nvPr/>
        </p:nvSpPr>
        <p:spPr>
          <a:xfrm>
            <a:off x="3593520" y="452628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Clone phishing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0"/>
          <p:cNvSpPr/>
          <p:nvPr/>
        </p:nvSpPr>
        <p:spPr>
          <a:xfrm>
            <a:off x="3593520" y="493776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 real email you received before is copied and resent with a malicious link swapped in.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1"/>
          <p:cNvSpPr/>
          <p:nvPr/>
        </p:nvSpPr>
        <p:spPr>
          <a:xfrm>
            <a:off x="6272640" y="3840480"/>
            <a:ext cx="2697120" cy="2331360"/>
          </a:xfrm>
          <a:prstGeom prst="roundRect">
            <a:avLst>
              <a:gd name="adj" fmla="val 3922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2"/>
          <p:cNvSpPr/>
          <p:nvPr/>
        </p:nvSpPr>
        <p:spPr>
          <a:xfrm>
            <a:off x="6455520" y="402336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3"/>
          <p:cNvSpPr/>
          <p:nvPr/>
        </p:nvSpPr>
        <p:spPr>
          <a:xfrm>
            <a:off x="6455520" y="402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4"/>
          <p:cNvSpPr/>
          <p:nvPr/>
        </p:nvSpPr>
        <p:spPr>
          <a:xfrm>
            <a:off x="6455520" y="452628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Pharming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5"/>
          <p:cNvSpPr/>
          <p:nvPr/>
        </p:nvSpPr>
        <p:spPr>
          <a:xfrm>
            <a:off x="6455520" y="493776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DNS or host-file tampering silently redirects you to a fake site — the URL bar can look normal.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6"/>
          <p:cNvSpPr/>
          <p:nvPr/>
        </p:nvSpPr>
        <p:spPr>
          <a:xfrm>
            <a:off x="9135000" y="3840480"/>
            <a:ext cx="2697120" cy="2331360"/>
          </a:xfrm>
          <a:prstGeom prst="roundRect">
            <a:avLst>
              <a:gd name="adj" fmla="val 3922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7"/>
          <p:cNvSpPr/>
          <p:nvPr/>
        </p:nvSpPr>
        <p:spPr>
          <a:xfrm>
            <a:off x="9317880" y="402336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8"/>
          <p:cNvSpPr/>
          <p:nvPr/>
        </p:nvSpPr>
        <p:spPr>
          <a:xfrm>
            <a:off x="9317880" y="402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9"/>
          <p:cNvSpPr/>
          <p:nvPr/>
        </p:nvSpPr>
        <p:spPr>
          <a:xfrm>
            <a:off x="9317880" y="4526280"/>
            <a:ext cx="2331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Quishing (QR code)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0"/>
          <p:cNvSpPr/>
          <p:nvPr/>
        </p:nvSpPr>
        <p:spPr>
          <a:xfrm>
            <a:off x="9317880" y="4937760"/>
            <a:ext cx="2331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 malicious QR code — on a poster, parking meter, or email — leads to a fake site.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4572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Social Engineering: The Psychology Behind The Click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8640" y="114300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9aa4c2"/>
                </a:solidFill>
                <a:effectLst/>
                <a:uFillTx/>
                <a:latin typeface="Calibri"/>
                <a:ea typeface="Calibri"/>
              </a:rPr>
              <a:t>Attackers don't hack systems first — they hack decision-making. These are the five levers they pull.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548640" y="1874520"/>
            <a:ext cx="10881000" cy="76788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777240" y="2084760"/>
            <a:ext cx="347040" cy="34704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777240" y="20847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1371600" y="1947600"/>
            <a:ext cx="2468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Urgency &amp; fear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4023360" y="1947600"/>
            <a:ext cx="72234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"Your account will be suspended in 1 hour." Pressure short-circuits careful thinking.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548640" y="2770560"/>
            <a:ext cx="10881000" cy="76788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777240" y="2980800"/>
            <a:ext cx="347040" cy="34704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777240" y="2980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1371600" y="2843640"/>
            <a:ext cx="2468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Authority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4023360" y="2843640"/>
            <a:ext cx="72234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Impersonating a CEO, IT admin, or law enforcement so the request feels non-negotiable.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548640" y="3666600"/>
            <a:ext cx="10881000" cy="76788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777240" y="3877200"/>
            <a:ext cx="347040" cy="34704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77724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1371600" y="3740040"/>
            <a:ext cx="2468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Trust &amp; familiarity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4023360" y="3740040"/>
            <a:ext cx="72234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Spoofing a real coworker, bank, or brand you already do business with.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548640" y="4563000"/>
            <a:ext cx="10881000" cy="76788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777240" y="4773240"/>
            <a:ext cx="347040" cy="34704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777240" y="47732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1371600" y="4636080"/>
            <a:ext cx="2468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Curiosity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4023360" y="4636080"/>
            <a:ext cx="72234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"See who viewed your profile" or a mysterious shared document you feel compelled to open.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2"/>
          <p:cNvSpPr/>
          <p:nvPr/>
        </p:nvSpPr>
        <p:spPr>
          <a:xfrm>
            <a:off x="548640" y="5459040"/>
            <a:ext cx="10881000" cy="76788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3"/>
          <p:cNvSpPr/>
          <p:nvPr/>
        </p:nvSpPr>
        <p:spPr>
          <a:xfrm>
            <a:off x="777240" y="5669280"/>
            <a:ext cx="347040" cy="34704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777240" y="56692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5"/>
          <p:cNvSpPr/>
          <p:nvPr/>
        </p:nvSpPr>
        <p:spPr>
          <a:xfrm>
            <a:off x="1371600" y="5532120"/>
            <a:ext cx="2468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Scarcity / reward</a:t>
            </a:r>
            <a:endParaRPr b="0" lang="en-US" sz="14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6"/>
          <p:cNvSpPr/>
          <p:nvPr/>
        </p:nvSpPr>
        <p:spPr>
          <a:xfrm>
            <a:off x="4023360" y="5532120"/>
            <a:ext cx="72234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Limited-time refunds, prizes, or exclusive access designed to override caution.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48640" y="45720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41b33"/>
                </a:solidFill>
                <a:effectLst/>
                <a:uFillTx/>
                <a:latin typeface="Cambria"/>
                <a:ea typeface="Cambria"/>
              </a:rPr>
              <a:t>Red Flags: Spotting A Phishing Email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"/>
          <p:cNvSpPr/>
          <p:nvPr/>
        </p:nvSpPr>
        <p:spPr>
          <a:xfrm>
            <a:off x="548640" y="137160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548640" y="1371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✕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1005840" y="1344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Mismatched sender address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005840" y="171900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Display name says "Microsoft Support" but the address is a random Gmail or misspelled domain.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548640" y="283464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548640" y="2834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✕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1005840" y="28072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Urgent or threatening tone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1005840" y="318204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"Immediate action required" or "your account will be locked" pushes you to skip verification.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548640" y="429768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548640" y="4297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✕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1005840" y="427032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Generic greeting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1005840" y="464508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"Dear Customer" instead of your name — real vendors usually personalize.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3"/>
          <p:cNvSpPr/>
          <p:nvPr/>
        </p:nvSpPr>
        <p:spPr>
          <a:xfrm>
            <a:off x="6126480" y="137160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6126480" y="1371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✕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6583680" y="134424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Suspicious links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6583680" y="171900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Hover before clicking — the visible text and the actual destination URL don't match.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6126480" y="283464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6126480" y="28346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✕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6583680" y="28072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Unexpected attachments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6583680" y="318204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Invoices, "resumes," or shipping labels you never requested, especially .zip or .exe files.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1"/>
          <p:cNvSpPr/>
          <p:nvPr/>
        </p:nvSpPr>
        <p:spPr>
          <a:xfrm>
            <a:off x="6126480" y="4297680"/>
            <a:ext cx="310680" cy="310680"/>
          </a:xfrm>
          <a:prstGeom prst="roundRect">
            <a:avLst>
              <a:gd name="adj" fmla="val 17647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2"/>
          <p:cNvSpPr/>
          <p:nvPr/>
        </p:nvSpPr>
        <p:spPr>
          <a:xfrm>
            <a:off x="6126480" y="42976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✕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3"/>
          <p:cNvSpPr/>
          <p:nvPr/>
        </p:nvSpPr>
        <p:spPr>
          <a:xfrm>
            <a:off x="6583680" y="427032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Requests for credentials or payment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4"/>
          <p:cNvSpPr/>
          <p:nvPr/>
        </p:nvSpPr>
        <p:spPr>
          <a:xfrm>
            <a:off x="6583680" y="4645080"/>
            <a:ext cx="4845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Legitimate companies never ask you to email a password or urgently wire funds.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548640" y="45720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41b33"/>
                </a:solidFill>
                <a:effectLst/>
                <a:uFillTx/>
                <a:latin typeface="Cambria"/>
                <a:ea typeface="Cambria"/>
              </a:rPr>
              <a:t>Red Flags: Fake Or Spoofed Websites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"/>
          <p:cNvSpPr/>
          <p:nvPr/>
        </p:nvSpPr>
        <p:spPr>
          <a:xfrm>
            <a:off x="548640" y="1280160"/>
            <a:ext cx="548604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5d9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685800" y="1417320"/>
            <a:ext cx="182520" cy="18252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"/>
          <p:cNvSpPr/>
          <p:nvPr/>
        </p:nvSpPr>
        <p:spPr>
          <a:xfrm>
            <a:off x="960120" y="128016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63946"/>
                </a:solidFill>
                <a:effectLst/>
                <a:uFillTx/>
                <a:latin typeface="Courier New"/>
                <a:ea typeface="Courier New"/>
              </a:rPr>
              <a:t>paypa1-secure-login.com/verify-account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"/>
          <p:cNvSpPr/>
          <p:nvPr/>
        </p:nvSpPr>
        <p:spPr>
          <a:xfrm>
            <a:off x="548640" y="2103120"/>
            <a:ext cx="1106388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f1424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5"/>
          <p:cNvSpPr/>
          <p:nvPr/>
        </p:nvSpPr>
        <p:spPr>
          <a:xfrm>
            <a:off x="777240" y="2468880"/>
            <a:ext cx="319680" cy="3196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6"/>
          <p:cNvSpPr/>
          <p:nvPr/>
        </p:nvSpPr>
        <p:spPr>
          <a:xfrm>
            <a:off x="777240" y="24688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1325880" y="2212920"/>
            <a:ext cx="9966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Look-alike domains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8"/>
          <p:cNvSpPr/>
          <p:nvPr/>
        </p:nvSpPr>
        <p:spPr>
          <a:xfrm>
            <a:off x="1325880" y="2541960"/>
            <a:ext cx="9966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"paypa1.com" (with a 1), "micros0ft-support.net", or a familiar name plus extra words. Read the domain character by character.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9"/>
          <p:cNvSpPr/>
          <p:nvPr/>
        </p:nvSpPr>
        <p:spPr>
          <a:xfrm>
            <a:off x="548640" y="3273480"/>
            <a:ext cx="1106388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f1424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0"/>
          <p:cNvSpPr/>
          <p:nvPr/>
        </p:nvSpPr>
        <p:spPr>
          <a:xfrm>
            <a:off x="777240" y="3639240"/>
            <a:ext cx="319680" cy="3196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1"/>
          <p:cNvSpPr/>
          <p:nvPr/>
        </p:nvSpPr>
        <p:spPr>
          <a:xfrm>
            <a:off x="777240" y="36392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2"/>
          <p:cNvSpPr/>
          <p:nvPr/>
        </p:nvSpPr>
        <p:spPr>
          <a:xfrm>
            <a:off x="1325880" y="3383280"/>
            <a:ext cx="9966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Wrong or missing padlock context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1325880" y="3712320"/>
            <a:ext cx="9966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HTTPS only means the connection is encrypted — attackers get valid padlocks too. It is not proof a site is legitimate.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4"/>
          <p:cNvSpPr/>
          <p:nvPr/>
        </p:nvSpPr>
        <p:spPr>
          <a:xfrm>
            <a:off x="548640" y="4443840"/>
            <a:ext cx="1106388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f1424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5"/>
          <p:cNvSpPr/>
          <p:nvPr/>
        </p:nvSpPr>
        <p:spPr>
          <a:xfrm>
            <a:off x="777240" y="4809600"/>
            <a:ext cx="319680" cy="3196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6"/>
          <p:cNvSpPr/>
          <p:nvPr/>
        </p:nvSpPr>
        <p:spPr>
          <a:xfrm>
            <a:off x="777240" y="48096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7"/>
          <p:cNvSpPr/>
          <p:nvPr/>
        </p:nvSpPr>
        <p:spPr>
          <a:xfrm>
            <a:off x="1325880" y="4553640"/>
            <a:ext cx="9966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Design that's almost right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8"/>
          <p:cNvSpPr/>
          <p:nvPr/>
        </p:nvSpPr>
        <p:spPr>
          <a:xfrm>
            <a:off x="1325880" y="4883040"/>
            <a:ext cx="9966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Slightly off logo, broken layout, outdated copyright year, or low-resolution images copied from the real site.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9"/>
          <p:cNvSpPr/>
          <p:nvPr/>
        </p:nvSpPr>
        <p:spPr>
          <a:xfrm>
            <a:off x="548640" y="5614560"/>
            <a:ext cx="11063880" cy="10512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f1424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0"/>
          <p:cNvSpPr/>
          <p:nvPr/>
        </p:nvSpPr>
        <p:spPr>
          <a:xfrm>
            <a:off x="777240" y="5980320"/>
            <a:ext cx="319680" cy="3196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1"/>
          <p:cNvSpPr/>
          <p:nvPr/>
        </p:nvSpPr>
        <p:spPr>
          <a:xfrm>
            <a:off x="777240" y="59803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1325880" y="5724000"/>
            <a:ext cx="9966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Login pages that ask for everything at once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3"/>
          <p:cNvSpPr/>
          <p:nvPr/>
        </p:nvSpPr>
        <p:spPr>
          <a:xfrm>
            <a:off x="1325880" y="6053400"/>
            <a:ext cx="9966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Real single sign-on rarely asks for password, PIN, and security questions all on one page.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48640" y="45720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Real-World Case Studies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548640" y="109728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9aa4c2"/>
                </a:solidFill>
                <a:effectLst/>
                <a:uFillTx/>
                <a:latin typeface="Calibri"/>
                <a:ea typeface="Calibri"/>
              </a:rPr>
              <a:t>Even the largest, most sophisticated organizations have lost millions to phishing.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548640" y="1920240"/>
            <a:ext cx="3565800" cy="448020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777240" y="2148840"/>
            <a:ext cx="3108600" cy="36540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"/>
          <p:cNvSpPr/>
          <p:nvPr/>
        </p:nvSpPr>
        <p:spPr>
          <a:xfrm>
            <a:off x="777240" y="21488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Business Email Compromise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777240" y="26974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Google &amp; Facebook, 2013–2015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777240" y="324612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8fa6ff"/>
                </a:solidFill>
                <a:effectLst/>
                <a:uFillTx/>
                <a:latin typeface="Cambria"/>
                <a:ea typeface="Cambria"/>
              </a:rPr>
              <a:t>$100M+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777240" y="4069080"/>
            <a:ext cx="3108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A Lithuanian scammer forged invoices and impersonated a real hardware vendor, tricking both companies' accounting teams into wiring over $100 million combined before it was caught.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4251960" y="1920240"/>
            <a:ext cx="3565800" cy="448020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9"/>
          <p:cNvSpPr/>
          <p:nvPr/>
        </p:nvSpPr>
        <p:spPr>
          <a:xfrm>
            <a:off x="4480560" y="2148840"/>
            <a:ext cx="3108600" cy="36540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4480560" y="21488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 Voice Vishing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4480560" y="26974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UK Energy Firm, 2019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4480560" y="324612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8fa6ff"/>
                </a:solidFill>
                <a:effectLst/>
                <a:uFillTx/>
                <a:latin typeface="Cambria"/>
                <a:ea typeface="Cambria"/>
              </a:rPr>
              <a:t>$243K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4480560" y="4069080"/>
            <a:ext cx="3108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An AI-generated voice mimicking the German parent company's CEO called the UK CEO directly, convincing him to urgently wire funds to a fraudulent supplier account.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4"/>
          <p:cNvSpPr/>
          <p:nvPr/>
        </p:nvSpPr>
        <p:spPr>
          <a:xfrm>
            <a:off x="7955280" y="1920240"/>
            <a:ext cx="3565800" cy="448020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8183880" y="2148840"/>
            <a:ext cx="3108600" cy="36540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8183880" y="214884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Smishing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8183880" y="269748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Twilio, 2022 &amp; 2024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8183880" y="324612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8fa6ff"/>
                </a:solidFill>
                <a:effectLst/>
                <a:uFillTx/>
                <a:latin typeface="Cambria"/>
                <a:ea typeface="Cambria"/>
              </a:rPr>
              <a:t>Data breach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8183880" y="4069080"/>
            <a:ext cx="3108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Attackers texted employees fake "password expiring" alerts linking to a cloned login page, harvesting credentials and gaining access to internal systems and customer data.</a:t>
            </a:r>
            <a:endParaRPr b="0" lang="en-US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548640" y="45720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41b33"/>
                </a:solidFill>
                <a:effectLst/>
                <a:uFillTx/>
                <a:latin typeface="Cambria"/>
                <a:ea typeface="Cambria"/>
              </a:rPr>
              <a:t>Best Practices To Avoid Falling Victim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548640" y="1325880"/>
            <a:ext cx="3520080" cy="2102760"/>
          </a:xfrm>
          <a:prstGeom prst="roundRect">
            <a:avLst>
              <a:gd name="adj" fmla="val 4348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777240" y="1554480"/>
            <a:ext cx="383760" cy="383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777240" y="1554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777240" y="205740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Pause before you act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777240" y="249624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Urgency is a tactic. Take 30 seconds before clicking a link or approving a request.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>
            <a:off x="4251960" y="1325880"/>
            <a:ext cx="3520080" cy="2102760"/>
          </a:xfrm>
          <a:prstGeom prst="roundRect">
            <a:avLst>
              <a:gd name="adj" fmla="val 4348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7"/>
          <p:cNvSpPr/>
          <p:nvPr/>
        </p:nvSpPr>
        <p:spPr>
          <a:xfrm>
            <a:off x="4480560" y="1554480"/>
            <a:ext cx="383760" cy="383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4480560" y="1554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4480560" y="205740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Verify through a second channel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4480560" y="249624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Call the person or company using a number you already know — never one from the message.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7955280" y="1325880"/>
            <a:ext cx="3520080" cy="2102760"/>
          </a:xfrm>
          <a:prstGeom prst="roundRect">
            <a:avLst>
              <a:gd name="adj" fmla="val 4348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8183880" y="1554480"/>
            <a:ext cx="383760" cy="383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8183880" y="1554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8183880" y="205740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Check the real sender &amp; URL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8183880" y="249624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Expand the sender address and hover over links before trusting either.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548640" y="3611880"/>
            <a:ext cx="3520080" cy="2102760"/>
          </a:xfrm>
          <a:prstGeom prst="roundRect">
            <a:avLst>
              <a:gd name="adj" fmla="val 4348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7"/>
          <p:cNvSpPr/>
          <p:nvPr/>
        </p:nvSpPr>
        <p:spPr>
          <a:xfrm>
            <a:off x="777240" y="3840480"/>
            <a:ext cx="383760" cy="383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777240" y="3840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9"/>
          <p:cNvSpPr/>
          <p:nvPr/>
        </p:nvSpPr>
        <p:spPr>
          <a:xfrm>
            <a:off x="777240" y="434340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Never reuse passwords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0"/>
          <p:cNvSpPr/>
          <p:nvPr/>
        </p:nvSpPr>
        <p:spPr>
          <a:xfrm>
            <a:off x="777240" y="478224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Use a password manager so one leaked credential can't unlock other accounts.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1"/>
          <p:cNvSpPr/>
          <p:nvPr/>
        </p:nvSpPr>
        <p:spPr>
          <a:xfrm>
            <a:off x="4251960" y="3611880"/>
            <a:ext cx="3520080" cy="2102760"/>
          </a:xfrm>
          <a:prstGeom prst="roundRect">
            <a:avLst>
              <a:gd name="adj" fmla="val 4348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2"/>
          <p:cNvSpPr/>
          <p:nvPr/>
        </p:nvSpPr>
        <p:spPr>
          <a:xfrm>
            <a:off x="4480560" y="3840480"/>
            <a:ext cx="383760" cy="383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4480560" y="3840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4"/>
          <p:cNvSpPr/>
          <p:nvPr/>
        </p:nvSpPr>
        <p:spPr>
          <a:xfrm>
            <a:off x="4480560" y="434340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Enable multi-factor authentication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5"/>
          <p:cNvSpPr/>
          <p:nvPr/>
        </p:nvSpPr>
        <p:spPr>
          <a:xfrm>
            <a:off x="4480560" y="478224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MFA stops most account takeovers even if a password is stolen.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6"/>
          <p:cNvSpPr/>
          <p:nvPr/>
        </p:nvSpPr>
        <p:spPr>
          <a:xfrm>
            <a:off x="7955280" y="3611880"/>
            <a:ext cx="3520080" cy="2102760"/>
          </a:xfrm>
          <a:prstGeom prst="roundRect">
            <a:avLst>
              <a:gd name="adj" fmla="val 4348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7"/>
          <p:cNvSpPr/>
          <p:nvPr/>
        </p:nvSpPr>
        <p:spPr>
          <a:xfrm>
            <a:off x="8183880" y="3840480"/>
            <a:ext cx="383760" cy="38376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8"/>
          <p:cNvSpPr/>
          <p:nvPr/>
        </p:nvSpPr>
        <p:spPr>
          <a:xfrm>
            <a:off x="8183880" y="3840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9"/>
          <p:cNvSpPr/>
          <p:nvPr/>
        </p:nvSpPr>
        <p:spPr>
          <a:xfrm>
            <a:off x="8183880" y="4343400"/>
            <a:ext cx="3062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Keep software &amp; filters updated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30"/>
          <p:cNvSpPr/>
          <p:nvPr/>
        </p:nvSpPr>
        <p:spPr>
          <a:xfrm>
            <a:off x="8183880" y="478224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Patches and email/spam filters block a large share of attacks automatically.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548640" y="457200"/>
            <a:ext cx="10789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If You Think You Clicked Something You Shouldn't Have</a:t>
            </a:r>
            <a:endParaRPr b="0" lang="en-U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548640" y="1188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9aa4c2"/>
                </a:solidFill>
                <a:effectLst/>
                <a:uFillTx/>
                <a:latin typeface="Calibri"/>
                <a:ea typeface="Calibri"/>
              </a:rPr>
              <a:t>Speed matters more than blame. Move through these steps immediately.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"/>
          <p:cNvSpPr/>
          <p:nvPr/>
        </p:nvSpPr>
        <p:spPr>
          <a:xfrm>
            <a:off x="548640" y="2148840"/>
            <a:ext cx="2121120" cy="3291480"/>
          </a:xfrm>
          <a:prstGeom prst="roundRect">
            <a:avLst>
              <a:gd name="adj" fmla="val 431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3"/>
          <p:cNvSpPr/>
          <p:nvPr/>
        </p:nvSpPr>
        <p:spPr>
          <a:xfrm>
            <a:off x="1362600" y="2423160"/>
            <a:ext cx="493560" cy="49356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4"/>
          <p:cNvSpPr/>
          <p:nvPr/>
        </p:nvSpPr>
        <p:spPr>
          <a:xfrm>
            <a:off x="1362600" y="242316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5"/>
          <p:cNvSpPr/>
          <p:nvPr/>
        </p:nvSpPr>
        <p:spPr>
          <a:xfrm>
            <a:off x="685800" y="3063240"/>
            <a:ext cx="1846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Disconnect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731520" y="3520440"/>
            <a:ext cx="17553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Take the device off Wi-Fi / network if malware may have run.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7"/>
          <p:cNvSpPr/>
          <p:nvPr/>
        </p:nvSpPr>
        <p:spPr>
          <a:xfrm>
            <a:off x="2807280" y="2148840"/>
            <a:ext cx="2121120" cy="3291480"/>
          </a:xfrm>
          <a:prstGeom prst="roundRect">
            <a:avLst>
              <a:gd name="adj" fmla="val 431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8"/>
          <p:cNvSpPr/>
          <p:nvPr/>
        </p:nvSpPr>
        <p:spPr>
          <a:xfrm>
            <a:off x="3620880" y="2423160"/>
            <a:ext cx="493560" cy="49356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9"/>
          <p:cNvSpPr/>
          <p:nvPr/>
        </p:nvSpPr>
        <p:spPr>
          <a:xfrm>
            <a:off x="3620880" y="242316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0"/>
          <p:cNvSpPr/>
          <p:nvPr/>
        </p:nvSpPr>
        <p:spPr>
          <a:xfrm>
            <a:off x="2944440" y="3063240"/>
            <a:ext cx="1846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Change passwords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1"/>
          <p:cNvSpPr/>
          <p:nvPr/>
        </p:nvSpPr>
        <p:spPr>
          <a:xfrm>
            <a:off x="2990160" y="3520440"/>
            <a:ext cx="17553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Immediately reset the affected account, and any account sharing that password.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2"/>
          <p:cNvSpPr/>
          <p:nvPr/>
        </p:nvSpPr>
        <p:spPr>
          <a:xfrm>
            <a:off x="5065920" y="2148840"/>
            <a:ext cx="2121120" cy="3291480"/>
          </a:xfrm>
          <a:prstGeom prst="roundRect">
            <a:avLst>
              <a:gd name="adj" fmla="val 431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3"/>
          <p:cNvSpPr/>
          <p:nvPr/>
        </p:nvSpPr>
        <p:spPr>
          <a:xfrm>
            <a:off x="5879520" y="2423160"/>
            <a:ext cx="493560" cy="49356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4"/>
          <p:cNvSpPr/>
          <p:nvPr/>
        </p:nvSpPr>
        <p:spPr>
          <a:xfrm>
            <a:off x="5879520" y="242316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5"/>
          <p:cNvSpPr/>
          <p:nvPr/>
        </p:nvSpPr>
        <p:spPr>
          <a:xfrm>
            <a:off x="5203080" y="3063240"/>
            <a:ext cx="1846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Report it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6"/>
          <p:cNvSpPr/>
          <p:nvPr/>
        </p:nvSpPr>
        <p:spPr>
          <a:xfrm>
            <a:off x="5248800" y="3520440"/>
            <a:ext cx="17553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Tell IT/security or your bank right away — don't wait to be sure.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7"/>
          <p:cNvSpPr/>
          <p:nvPr/>
        </p:nvSpPr>
        <p:spPr>
          <a:xfrm>
            <a:off x="7324200" y="2148840"/>
            <a:ext cx="2121120" cy="3291480"/>
          </a:xfrm>
          <a:prstGeom prst="roundRect">
            <a:avLst>
              <a:gd name="adj" fmla="val 431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8"/>
          <p:cNvSpPr/>
          <p:nvPr/>
        </p:nvSpPr>
        <p:spPr>
          <a:xfrm>
            <a:off x="8138160" y="2423160"/>
            <a:ext cx="493560" cy="49356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9"/>
          <p:cNvSpPr/>
          <p:nvPr/>
        </p:nvSpPr>
        <p:spPr>
          <a:xfrm>
            <a:off x="8138160" y="242316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0"/>
          <p:cNvSpPr/>
          <p:nvPr/>
        </p:nvSpPr>
        <p:spPr>
          <a:xfrm>
            <a:off x="7461360" y="3063240"/>
            <a:ext cx="1846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Enable MFA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1"/>
          <p:cNvSpPr/>
          <p:nvPr/>
        </p:nvSpPr>
        <p:spPr>
          <a:xfrm>
            <a:off x="7507080" y="3520440"/>
            <a:ext cx="17553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Add multi-factor authentication if it wasn't already on.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2"/>
          <p:cNvSpPr/>
          <p:nvPr/>
        </p:nvSpPr>
        <p:spPr>
          <a:xfrm>
            <a:off x="9582840" y="2148840"/>
            <a:ext cx="2121120" cy="3291480"/>
          </a:xfrm>
          <a:prstGeom prst="roundRect">
            <a:avLst>
              <a:gd name="adj" fmla="val 431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23"/>
          <p:cNvSpPr/>
          <p:nvPr/>
        </p:nvSpPr>
        <p:spPr>
          <a:xfrm>
            <a:off x="10396800" y="2423160"/>
            <a:ext cx="493560" cy="49356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4"/>
          <p:cNvSpPr/>
          <p:nvPr/>
        </p:nvSpPr>
        <p:spPr>
          <a:xfrm>
            <a:off x="10396800" y="242316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5"/>
          <p:cNvSpPr/>
          <p:nvPr/>
        </p:nvSpPr>
        <p:spPr>
          <a:xfrm>
            <a:off x="9720000" y="3063240"/>
            <a:ext cx="1846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Watch your accounts</a:t>
            </a:r>
            <a:endParaRPr b="0" lang="en-US" sz="13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6"/>
          <p:cNvSpPr/>
          <p:nvPr/>
        </p:nvSpPr>
        <p:spPr>
          <a:xfrm>
            <a:off x="9765720" y="3520440"/>
            <a:ext cx="17553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Monitor statements and logins for unusual activity in the following days.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548640" y="45720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141b33"/>
                </a:solidFill>
                <a:effectLst/>
                <a:uFillTx/>
                <a:latin typeface="Cambria"/>
                <a:ea typeface="Cambria"/>
              </a:rPr>
              <a:t>Key Takeaways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"/>
          <p:cNvSpPr/>
          <p:nvPr/>
        </p:nvSpPr>
        <p:spPr>
          <a:xfrm>
            <a:off x="548640" y="141732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548640" y="141732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3"/>
          <p:cNvSpPr/>
          <p:nvPr/>
        </p:nvSpPr>
        <p:spPr>
          <a:xfrm>
            <a:off x="1097280" y="136260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Phishing targets people, not just systems — awareness is your strongest defense.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548640" y="219456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548640" y="21945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1097280" y="213984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Slow down on urgent requests; verify through a second, known channel.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548640" y="297180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8"/>
          <p:cNvSpPr/>
          <p:nvPr/>
        </p:nvSpPr>
        <p:spPr>
          <a:xfrm>
            <a:off x="548640" y="2971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1097280" y="291708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Check sender addresses and real link destinations before you trust either.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548640" y="374904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548640" y="37490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2"/>
          <p:cNvSpPr/>
          <p:nvPr/>
        </p:nvSpPr>
        <p:spPr>
          <a:xfrm>
            <a:off x="1097280" y="369432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Use MFA and a password manager so one mistake can't cascade into a breach.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3"/>
          <p:cNvSpPr/>
          <p:nvPr/>
        </p:nvSpPr>
        <p:spPr>
          <a:xfrm>
            <a:off x="548640" y="4526280"/>
            <a:ext cx="365400" cy="3654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548640" y="45262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1097280" y="447156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141b33"/>
                </a:solidFill>
                <a:effectLst/>
                <a:uFillTx/>
                <a:latin typeface="Calibri"/>
                <a:ea typeface="Calibri"/>
              </a:rPr>
              <a:t>When in doubt, report it — a false alarm costs far less than a real breach.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6"/>
          <p:cNvSpPr/>
          <p:nvPr/>
        </p:nvSpPr>
        <p:spPr>
          <a:xfrm>
            <a:off x="548640" y="5623560"/>
            <a:ext cx="11063880" cy="685440"/>
          </a:xfrm>
          <a:prstGeom prst="roundRect">
            <a:avLst>
              <a:gd name="adj" fmla="val 10667"/>
            </a:avLst>
          </a:prstGeom>
          <a:solidFill>
            <a:srgbClr val="f4f5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7"/>
          <p:cNvSpPr/>
          <p:nvPr/>
        </p:nvSpPr>
        <p:spPr>
          <a:xfrm>
            <a:off x="822960" y="562356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trike="noStrike" u="non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Remember: legitimate organizations will never pressure you to act in seconds. If it feels urgent and unexpected, verify first.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8961120" y="4206240"/>
            <a:ext cx="4571640" cy="4571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822960" y="19202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Test Yourself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822960" y="2788920"/>
            <a:ext cx="7772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cbd3e8"/>
                </a:solidFill>
                <a:effectLst/>
                <a:uFillTx/>
                <a:latin typeface="Calibri"/>
                <a:ea typeface="Calibri"/>
              </a:rPr>
              <a:t>A short interactive quiz follows this module — spot the red flags, identify the tactic, and check what you've learned.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"/>
          <p:cNvSpPr/>
          <p:nvPr/>
        </p:nvSpPr>
        <p:spPr>
          <a:xfrm>
            <a:off x="822960" y="3840480"/>
            <a:ext cx="2011680" cy="360"/>
          </a:xfrm>
          <a:prstGeom prst="line">
            <a:avLst/>
          </a:prstGeom>
          <a:ln w="381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"/>
          <p:cNvSpPr/>
          <p:nvPr/>
        </p:nvSpPr>
        <p:spPr>
          <a:xfrm>
            <a:off x="822960" y="411480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Stay skeptical. Stay verified. Stay safe.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5"/>
          <p:cNvSpPr/>
          <p:nvPr/>
        </p:nvSpPr>
        <p:spPr>
          <a:xfrm>
            <a:off x="822960" y="61264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c6b8a"/>
                </a:solidFill>
                <a:effectLst/>
                <a:uFillTx/>
                <a:latin typeface="Calibri"/>
                <a:ea typeface="Calibri"/>
              </a:rPr>
              <a:t>End of Module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2026-08-27T06:15:55Z</dcterms:created>
  <dc:creator>PptxGenJS</dc:creator>
  <dc:description/>
  <dc:language>en-US</dc:language>
  <cp:lastModifiedBy/>
  <dcterms:modified xsi:type="dcterms:W3CDTF">2026-08-27T11:20:54Z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